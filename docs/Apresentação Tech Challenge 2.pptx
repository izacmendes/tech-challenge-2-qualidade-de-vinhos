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25416" y="2614612"/>
            <a:ext cx="9341167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Playfair Display"/>
              </a:rPr>
              <a:t>Previsão de Qualidade do Vinho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14737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Plus Jakarta Sans"/>
              </a:rPr>
              <a:t>Tech Challenge - </a:t>
            </a:r>
            <a:r>
              <a:rPr sz="1650" b="0" i="0" u="none" dirty="0" err="1">
                <a:solidFill>
                  <a:srgbClr val="CBD5E1"/>
                </a:solidFill>
                <a:latin typeface="Plus Jakarta Sans"/>
              </a:rPr>
              <a:t>Análise</a:t>
            </a:r>
            <a:r>
              <a:rPr sz="1650" b="0" i="0" u="none" dirty="0">
                <a:solidFill>
                  <a:srgbClr val="CBD5E1"/>
                </a:solidFill>
                <a:latin typeface="Plus Jakarta Sans"/>
              </a:rPr>
              <a:t> de Dados e </a:t>
            </a:r>
            <a:r>
              <a:rPr sz="1650" b="0" i="0" u="none" dirty="0" err="1">
                <a:solidFill>
                  <a:srgbClr val="CBD5E1"/>
                </a:solidFill>
                <a:latin typeface="Plus Jakarta Sans"/>
              </a:rPr>
              <a:t>Modelagem</a:t>
            </a:r>
            <a:r>
              <a:rPr sz="16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Plus Jakarta Sans"/>
              </a:rPr>
              <a:t>Preditiva</a:t>
            </a:r>
            <a:r>
              <a:rPr sz="16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Plus Jakarta Sans"/>
              </a:rPr>
              <a:t>Aplicada</a:t>
            </a:r>
            <a:r>
              <a:rPr sz="1650" b="0" i="0" u="none" dirty="0">
                <a:solidFill>
                  <a:srgbClr val="CBD5E1"/>
                </a:solidFill>
                <a:latin typeface="Plus Jakarta Sans"/>
              </a:rPr>
              <a:t> à </a:t>
            </a:r>
            <a:r>
              <a:rPr sz="1650" b="0" i="0" u="none" dirty="0" err="1">
                <a:solidFill>
                  <a:srgbClr val="CBD5E1"/>
                </a:solidFill>
                <a:latin typeface="Plus Jakarta Sans"/>
              </a:rPr>
              <a:t>Enologia</a:t>
            </a:r>
            <a:endParaRPr sz="1650" b="0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8316FF6-7ECB-031F-02F4-83CBA128BBD4}"/>
              </a:ext>
            </a:extLst>
          </p:cNvPr>
          <p:cNvSpPr txBox="1"/>
          <p:nvPr/>
        </p:nvSpPr>
        <p:spPr>
          <a:xfrm>
            <a:off x="1145327" y="6389290"/>
            <a:ext cx="9901345" cy="216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4" b="1" i="0" u="none" dirty="0">
                <a:solidFill>
                  <a:srgbClr val="F43F5E"/>
                </a:solidFill>
                <a:latin typeface="Playfair Display"/>
              </a:rPr>
              <a:t>Link Vídeo Apresentação</a:t>
            </a:r>
            <a:r>
              <a:rPr lang="pt-BR" sz="1404" b="1" dirty="0">
                <a:solidFill>
                  <a:srgbClr val="F43F5E"/>
                </a:solidFill>
                <a:latin typeface="Playfair Display"/>
              </a:rPr>
              <a:t>: https://drive.google.com/file/d/1WaAwaF46T9etUlQgIO9Ks6kkKFQiD4HA/view?usp=sharing</a:t>
            </a:r>
            <a:endParaRPr sz="1404" b="1" i="0" u="none" dirty="0">
              <a:solidFill>
                <a:srgbClr val="F43F5E"/>
              </a:solidFill>
              <a:latin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633662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5661" y="2957512"/>
            <a:ext cx="542067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8FAFC"/>
                </a:solidFill>
                <a:latin typeface="Playfair Display"/>
              </a:rPr>
              <a:t>Contexto e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1712" y="4081462"/>
            <a:ext cx="76485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Entendendo o desafio de classificar e prever a qualidade de vinhos através de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6525"/>
            <a:ext cx="5286375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676525"/>
            <a:ext cx="5286375" cy="2390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3067050"/>
            <a:ext cx="473059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 dirty="0" err="1">
                <a:solidFill>
                  <a:srgbClr val="F43F5E"/>
                </a:solidFill>
                <a:latin typeface="Playfair Display"/>
              </a:rPr>
              <a:t>Avaliação</a:t>
            </a:r>
            <a:r>
              <a:rPr sz="1404" b="1" i="0" u="none" dirty="0">
                <a:solidFill>
                  <a:srgbClr val="F43F5E"/>
                </a:solidFill>
                <a:latin typeface="Playfair Display"/>
              </a:rPr>
              <a:t> Sensorial vs. </a:t>
            </a:r>
            <a:r>
              <a:rPr sz="1404" b="1" i="0" u="none" dirty="0" err="1">
                <a:solidFill>
                  <a:srgbClr val="F43F5E"/>
                </a:solidFill>
                <a:latin typeface="Playfair Display"/>
              </a:rPr>
              <a:t>Química</a:t>
            </a:r>
            <a:endParaRPr sz="1404" b="1" i="0" u="none" dirty="0">
              <a:solidFill>
                <a:srgbClr val="F43F5E"/>
              </a:solidFill>
              <a:latin typeface="Playfair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2025" y="3476625"/>
            <a:ext cx="45053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A avaliação tradicional da qualidade do vinho depende de degustadores especializados, o que introduz subjetividade e alto custo de tempo e recursos laboratoriais.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3067050"/>
            <a:ext cx="473059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43F5E"/>
                </a:solidFill>
                <a:latin typeface="Playfair Display"/>
              </a:rPr>
              <a:t>Proposta Baseada em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3476625"/>
            <a:ext cx="45053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Utilizar propriedades físico-químicas mensuráveis (como acidez, teor alcoólico, sulfatos e pH) para prever com alta precisão a nota de qualidade atribuída aos vinhos.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Playfair Display"/>
              </a:rPr>
              <a:t>O Desafio Enológico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1250"/>
            <a:ext cx="3492549" cy="2981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81250"/>
            <a:ext cx="3492549" cy="2981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81250"/>
            <a:ext cx="3492549" cy="2981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95650"/>
            <a:ext cx="15001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ayfair Display"/>
              </a:rPr>
              <a:t>1. Tratamento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67150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Análise exploratória, tratamento de valores ausentes e remoção eficiente de outliers com base estatística rigorosa.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295650"/>
            <a:ext cx="153019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ayfair Display"/>
              </a:rPr>
              <a:t>2. Modelagem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867150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Treinamento de múltiplos algoritmos de classificação e validação cruzada (CV) para robustez estatística.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295650"/>
            <a:ext cx="128016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ayfair Display"/>
              </a:rPr>
              <a:t>3. Avaliação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867150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Comparação de métricas em ambiente de teste, análise de importância de variáveis e otimização final.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33675"/>
            <a:ext cx="3048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733675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733675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Playfair Display"/>
              </a:rPr>
              <a:t>Pipeline do Projeto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633662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65583" y="2957512"/>
            <a:ext cx="666083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8FAFC"/>
                </a:solidFill>
                <a:latin typeface="Playfair Display"/>
              </a:rPr>
              <a:t>Resultados dos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0887" y="4081462"/>
            <a:ext cx="56102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Desempenho comparativo obtido nos conjuntos de validação e teste.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00300"/>
            <a:ext cx="11049000" cy="294322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400300"/>
          <a:ext cx="11039474" cy="2943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0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Modelo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Acurácia (CV)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Acurácia (Test)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Random Forest Classifier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88.4%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89.1%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0.88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Gradient Boosting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86.2%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87.5%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0.86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Support Vector Machine (SVM)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82.1%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81.9%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0.80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78.5%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78.2%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0.77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005137"/>
            <a:ext cx="4032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608462" y="3005137"/>
            <a:ext cx="2479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87492" y="3005137"/>
            <a:ext cx="2610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97789" y="3005137"/>
            <a:ext cx="19179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3586162"/>
            <a:ext cx="4032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08462" y="3586162"/>
            <a:ext cx="2479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87492" y="3586162"/>
            <a:ext cx="2610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97789" y="3586162"/>
            <a:ext cx="19179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262" y="4167187"/>
            <a:ext cx="4032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08462" y="4167187"/>
            <a:ext cx="2479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7492" y="4167187"/>
            <a:ext cx="2610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97789" y="4167187"/>
            <a:ext cx="19179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262" y="4748212"/>
            <a:ext cx="4032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08462" y="4748212"/>
            <a:ext cx="2479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87492" y="4748212"/>
            <a:ext cx="2610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97789" y="4748212"/>
            <a:ext cx="19179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262" y="5329237"/>
            <a:ext cx="4032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462" y="5329237"/>
            <a:ext cx="2479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87492" y="5329237"/>
            <a:ext cx="2610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97789" y="5329237"/>
            <a:ext cx="19179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Playfair Display"/>
              </a:rPr>
              <a:t>Comparação de Desempenho (Test)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7325"/>
            <a:ext cx="11049000" cy="4829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672012"/>
            <a:ext cx="11049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1" u="none">
                <a:solidFill>
                  <a:srgbClr val="94A3B8"/>
                </a:solidFill>
                <a:latin typeface="Plus Jakarta Sans"/>
              </a:rPr>
              <a:t>O algoritmo Random Forest destacou-se com a maior precisão preditiva, lidando perfeitamente com as não-linearidades das propriedades químicas do vinho.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Playfair Display"/>
              </a:rPr>
              <a:t>Acurácia Global por Modelo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2814637"/>
            <a:ext cx="1066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Plus Jakarta Sans"/>
              </a:rPr>
              <a:t>Álcool e Sulfatos: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Variáveis como teor alcoólico e sulfatos apresentaram a maior importância (permutation importance) na determinação da alta qualidade do vinho.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519487"/>
            <a:ext cx="1066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Plus Jakarta Sans"/>
              </a:rPr>
              <a:t>Tratamento de Outliers: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A remoção de valores extremos no pré-processamento garantiu maior estabilidade e evitou o overfitting dos modelos baseados em árvores.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224337"/>
            <a:ext cx="1066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Plus Jakarta Sans"/>
              </a:rPr>
              <a:t>Impacto Prático: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A solução automatizada reduz drasticamente a dependência de testes sensoriais humanos custosos e padroniza o controle de qualidade industrial.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2737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57587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62437"/>
            <a:ext cx="22860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Playfair Display"/>
              </a:rPr>
              <a:t>Principais Insights e Conclusões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414587"/>
            <a:ext cx="116014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8FAFC"/>
                </a:solidFill>
                <a:latin typeface="Playfair Display"/>
              </a:rPr>
              <a:t>Considerações Finais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367087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Este Tech Challenge demonstrou o potencial transformador do Machine Learning no setor enológico, viabilizando previsões robustas, escaláveis e de alto valor comercial.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24337"/>
            <a:ext cx="11049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 err="1">
                <a:solidFill>
                  <a:srgbClr val="F43F5E"/>
                </a:solidFill>
                <a:latin typeface="Plus Jakarta Sans"/>
              </a:rPr>
              <a:t>Obrigado</a:t>
            </a:r>
            <a:r>
              <a:rPr sz="1350" b="1" i="0" u="none" dirty="0">
                <a:solidFill>
                  <a:srgbClr val="F43F5E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F43F5E"/>
                </a:solidFill>
                <a:latin typeface="Plus Jakarta Sans"/>
              </a:rPr>
              <a:t>por</a:t>
            </a:r>
            <a:r>
              <a:rPr sz="1350" b="1" i="0" u="none" dirty="0">
                <a:solidFill>
                  <a:srgbClr val="F43F5E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F43F5E"/>
                </a:solidFill>
                <a:latin typeface="Plus Jakarta Sans"/>
              </a:rPr>
              <a:t>assistir</a:t>
            </a:r>
            <a:r>
              <a:rPr sz="1350" b="1" i="0" u="none" dirty="0">
                <a:solidFill>
                  <a:srgbClr val="F43F5E"/>
                </a:solidFill>
                <a:latin typeface="Plus Jakarta Sans"/>
              </a:rPr>
              <a:t>! — Tech Challenge Data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387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Playfair Display</vt:lpstr>
      <vt:lpstr>Plus Jakarta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Izabella Costa Mendes</cp:lastModifiedBy>
  <cp:revision>2</cp:revision>
  <dcterms:created xsi:type="dcterms:W3CDTF">2013-01-27T09:14:16Z</dcterms:created>
  <dcterms:modified xsi:type="dcterms:W3CDTF">2026-09-02T02:24:05Z</dcterms:modified>
  <cp:category/>
</cp:coreProperties>
</file>